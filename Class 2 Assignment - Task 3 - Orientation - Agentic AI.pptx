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672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7FE96-4E96-4A81-83AB-F13E9C43DF5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5A5EDA-E7C0-454F-A35E-5EBBA4396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324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2162C-4579-4C98-8937-214392E6DDB8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325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2965-3D8E-4D4C-9533-580B695CEEF4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06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E3CB5-6DF7-4D7F-8D03-3DAA79B39D08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185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880D4-A9A3-4498-86FC-45D8DB2B749F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414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1DA3-4481-4088-9EB6-D612991A0010}" type="datetime1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07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5B8DE-2CC7-4371-99D3-E2568E83F93A}" type="datetime1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74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49BE0-DB17-4D66-947A-3F66E5CB6C93}" type="datetime1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17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603F-B15C-48C2-ACAF-3E0084455E8F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021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36B2-3850-4E08-B770-3FD69E6D297F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58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1B224-924B-4F67-BC1F-66106F70FB91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65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301B-781C-473C-A483-2D0A16A4F097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04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92B55-1482-4385-9E37-5E4276F9762D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25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CF746-B86D-44C9-944A-16763ADE73C1}" type="datetime1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6084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315AB-176C-4AD8-8979-83611F5269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4"/>
          <a:srcRect l="10129" t="14388" r="76282" b="73533"/>
          <a:stretch/>
        </p:blipFill>
        <p:spPr>
          <a:xfrm>
            <a:off x="10919656" y="93004"/>
            <a:ext cx="1155112" cy="57755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0732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83803"/>
            <a:ext cx="9144000" cy="2387600"/>
          </a:xfrm>
        </p:spPr>
        <p:txBody>
          <a:bodyPr/>
          <a:lstStyle/>
          <a:p>
            <a:r>
              <a:rPr lang="en-US" b="1" dirty="0" smtClean="0"/>
              <a:t>Agentic AI: From Tools to Workers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963478"/>
            <a:ext cx="9144000" cy="1655762"/>
          </a:xfrm>
        </p:spPr>
        <p:txBody>
          <a:bodyPr/>
          <a:lstStyle/>
          <a:p>
            <a:r>
              <a:rPr lang="en-US" dirty="0" smtClean="0"/>
              <a:t>Orientation Session - </a:t>
            </a:r>
            <a:r>
              <a:rPr lang="en-US" dirty="0" err="1" smtClean="0"/>
              <a:t>Panaversity</a:t>
            </a:r>
            <a:endParaRPr lang="en-US" dirty="0" smtClean="0"/>
          </a:p>
          <a:p>
            <a:r>
              <a:rPr lang="en-US" dirty="0" smtClean="0"/>
              <a:t>Zia Khan | </a:t>
            </a:r>
            <a:r>
              <a:rPr lang="en-US" dirty="0" err="1"/>
              <a:t>W</a:t>
            </a:r>
            <a:r>
              <a:rPr lang="en-US" dirty="0" err="1" smtClean="0"/>
              <a:t>ania</a:t>
            </a:r>
            <a:r>
              <a:rPr lang="en-US" dirty="0" smtClean="0"/>
              <a:t> </a:t>
            </a:r>
            <a:r>
              <a:rPr lang="en-US" dirty="0" err="1" smtClean="0"/>
              <a:t>Kazmi</a:t>
            </a:r>
            <a:r>
              <a:rPr lang="en-US" dirty="0" smtClean="0"/>
              <a:t> | Ammar </a:t>
            </a:r>
            <a:r>
              <a:rPr lang="en-US" dirty="0" err="1" smtClean="0"/>
              <a:t>Aamir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10129" t="14388" r="76282" b="73533"/>
          <a:stretch/>
        </p:blipFill>
        <p:spPr>
          <a:xfrm>
            <a:off x="3391096" y="357164"/>
            <a:ext cx="5056552" cy="2528276"/>
          </a:xfrm>
          <a:prstGeom prst="rect">
            <a:avLst/>
          </a:prstGeom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3F2D-81EC-4EC0-8A60-2EFF1469DDAD}" type="datetime1">
              <a:rPr lang="en-US" smtClean="0"/>
              <a:t>6/23/2026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1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170160" y="0"/>
            <a:ext cx="2021840" cy="1280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235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Meet Your Instructors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ZIA KHAN</a:t>
            </a:r>
          </a:p>
          <a:p>
            <a:r>
              <a:rPr lang="en-US" dirty="0" smtClean="0"/>
              <a:t>• Failed 6 times in ICAP Part 3</a:t>
            </a:r>
          </a:p>
          <a:p>
            <a:r>
              <a:rPr lang="en-US" dirty="0" smtClean="0"/>
              <a:t>• Earned 5 degrees in USA</a:t>
            </a:r>
          </a:p>
          <a:p>
            <a:r>
              <a:rPr lang="en-US" dirty="0" smtClean="0"/>
              <a:t>• Returned to Pakistan in 1999</a:t>
            </a:r>
          </a:p>
          <a:p>
            <a:endParaRPr lang="en-US" dirty="0" smtClean="0"/>
          </a:p>
          <a:p>
            <a:r>
              <a:rPr lang="en-US" dirty="0" smtClean="0"/>
              <a:t>WANIA KAZMI</a:t>
            </a:r>
          </a:p>
          <a:p>
            <a:r>
              <a:rPr lang="en-US" dirty="0" smtClean="0"/>
              <a:t>• B.S. Software Engineering (COMSATS)</a:t>
            </a:r>
          </a:p>
          <a:p>
            <a:r>
              <a:rPr lang="en-US" dirty="0" smtClean="0"/>
              <a:t>• Built </a:t>
            </a:r>
            <a:r>
              <a:rPr lang="en-US" dirty="0" err="1" smtClean="0"/>
              <a:t>Panaversity</a:t>
            </a:r>
            <a:endParaRPr lang="en-US" dirty="0" smtClean="0"/>
          </a:p>
          <a:p>
            <a:r>
              <a:rPr lang="en-US" dirty="0" smtClean="0"/>
              <a:t>• Works on Agentic AI</a:t>
            </a:r>
          </a:p>
          <a:p>
            <a:endParaRPr lang="en-US" dirty="0" smtClean="0"/>
          </a:p>
          <a:p>
            <a:r>
              <a:rPr lang="en-US" dirty="0" smtClean="0"/>
              <a:t>AMMAR AAMIR</a:t>
            </a:r>
          </a:p>
          <a:p>
            <a:r>
              <a:rPr lang="en-US" dirty="0" smtClean="0"/>
              <a:t>• BBA </a:t>
            </a:r>
          </a:p>
          <a:p>
            <a:r>
              <a:rPr lang="en-US" dirty="0" smtClean="0"/>
              <a:t>• Joined Zia Khan's classes</a:t>
            </a:r>
          </a:p>
          <a:p>
            <a:r>
              <a:rPr lang="en-US" dirty="0" smtClean="0"/>
              <a:t>• Built </a:t>
            </a:r>
            <a:r>
              <a:rPr lang="en-US" dirty="0" err="1" smtClean="0"/>
              <a:t>Panaversity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208F-1B1B-480C-A4FB-9039E4F92D18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31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Core Message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TWO THINGS YOU MUST DO: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 Complete Your Assignments on Time</a:t>
            </a:r>
          </a:p>
          <a:p>
            <a:pPr marL="0" indent="0">
              <a:buNone/>
            </a:pPr>
            <a:r>
              <a:rPr lang="en-US" dirty="0" smtClean="0"/>
              <a:t>   'Tomorrow never comes' — Zia Khan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2. Build a Friendship with Your Instructors</a:t>
            </a:r>
          </a:p>
          <a:p>
            <a:pPr marL="0" indent="0">
              <a:buNone/>
            </a:pPr>
            <a:r>
              <a:rPr lang="en-US" dirty="0" smtClean="0"/>
              <a:t>   • First-name basis relationship</a:t>
            </a:r>
          </a:p>
          <a:p>
            <a:pPr marL="0" indent="0">
              <a:buNone/>
            </a:pPr>
            <a:r>
              <a:rPr lang="en-US" dirty="0" smtClean="0"/>
              <a:t>   • Trust is essential for business</a:t>
            </a:r>
          </a:p>
          <a:p>
            <a:pPr marL="0" indent="0">
              <a:buNone/>
            </a:pPr>
            <a:r>
              <a:rPr lang="en-US" dirty="0" smtClean="0"/>
              <a:t>   • You are business partners, not just students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B72FC-6A8A-48F8-B106-1A2F587A43A7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177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Revolution in AI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THREE LEVELS OF AI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LEVEL 3: AGENTIC AI ? YOU ARE HERE</a:t>
            </a:r>
          </a:p>
          <a:p>
            <a:pPr marL="0" indent="0">
              <a:buNone/>
            </a:pPr>
            <a:r>
              <a:rPr lang="en-US" dirty="0" smtClean="0"/>
              <a:t>• Acts, Executes End-to-End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LEVEL 2: GENERATIVE AI</a:t>
            </a:r>
          </a:p>
          <a:p>
            <a:pPr marL="0" indent="0">
              <a:buNone/>
            </a:pPr>
            <a:r>
              <a:rPr lang="en-US" dirty="0" smtClean="0"/>
              <a:t>• Creates Text, Images, Code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LEVEL 1: PREDICTIVE AI</a:t>
            </a:r>
          </a:p>
          <a:p>
            <a:pPr marL="0" indent="0">
              <a:buNone/>
            </a:pPr>
            <a:r>
              <a:rPr lang="en-US" dirty="0" smtClean="0"/>
              <a:t>• Yes/No, Classification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18B56-7EE1-47AD-9F4C-D1A59FAD0F95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64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is Artificial Intelligence?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AI = Decision-Making Without Human Intervention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MICROWAVE EXAMPLE: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Regular Microwave:</a:t>
            </a:r>
          </a:p>
          <a:p>
            <a:pPr marL="0" indent="0">
              <a:buNone/>
            </a:pPr>
            <a:r>
              <a:rPr lang="en-US" dirty="0" smtClean="0"/>
              <a:t>• You set the timer manually</a:t>
            </a:r>
          </a:p>
          <a:p>
            <a:pPr marL="0" indent="0">
              <a:buNone/>
            </a:pPr>
            <a:r>
              <a:rPr lang="en-US" dirty="0" smtClean="0"/>
              <a:t>• You decide how long to heat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AI-Powered Microwave:</a:t>
            </a:r>
          </a:p>
          <a:p>
            <a:pPr marL="0" indent="0">
              <a:buNone/>
            </a:pPr>
            <a:r>
              <a:rPr lang="en-US" dirty="0" smtClean="0"/>
              <a:t>• It detects the temperature</a:t>
            </a:r>
          </a:p>
          <a:p>
            <a:pPr marL="0" indent="0">
              <a:buNone/>
            </a:pPr>
            <a:r>
              <a:rPr lang="en-US" dirty="0" smtClean="0"/>
              <a:t>• It decides the time automatically</a:t>
            </a:r>
          </a:p>
          <a:p>
            <a:pPr marL="0" indent="0">
              <a:buNone/>
            </a:pPr>
            <a:r>
              <a:rPr lang="en-US" dirty="0" smtClean="0"/>
              <a:t>• Decision-making based on training data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0EEC-612C-4931-BB56-DEB8BE3DC86A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2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AI is Everywhere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Google Translate: Translates without human help</a:t>
            </a:r>
          </a:p>
          <a:p>
            <a:endParaRPr lang="en-US" dirty="0" smtClean="0"/>
          </a:p>
          <a:p>
            <a:r>
              <a:rPr lang="en-US" dirty="0" smtClean="0"/>
              <a:t>Social Media: Suggests products based on behavior</a:t>
            </a:r>
          </a:p>
          <a:p>
            <a:endParaRPr lang="en-US" dirty="0" smtClean="0"/>
          </a:p>
          <a:p>
            <a:r>
              <a:rPr lang="en-US" dirty="0" smtClean="0"/>
              <a:t>Auto-Correction: Predicts spelling/grammar</a:t>
            </a:r>
          </a:p>
          <a:p>
            <a:endParaRPr lang="en-US" dirty="0" smtClean="0"/>
          </a:p>
          <a:p>
            <a:r>
              <a:rPr lang="en-US" dirty="0" err="1" smtClean="0"/>
              <a:t>ChatGPT</a:t>
            </a:r>
            <a:r>
              <a:rPr lang="en-US" dirty="0" smtClean="0"/>
              <a:t> / Claude: Generates responses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AI = Software trained on data to recognize patterns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388B-1282-4567-BE5C-8F3FE23DF5A5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00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Level 1 - Predictive AI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Yes/No Decisions</a:t>
            </a:r>
          </a:p>
          <a:p>
            <a:endParaRPr lang="en-US" dirty="0" smtClean="0"/>
          </a:p>
          <a:p>
            <a:r>
              <a:rPr lang="en-US" dirty="0" smtClean="0"/>
              <a:t>Is this a CAT? ? YES</a:t>
            </a:r>
          </a:p>
          <a:p>
            <a:r>
              <a:rPr lang="en-US" dirty="0" smtClean="0"/>
              <a:t>Is this a CAT? ? NO</a:t>
            </a:r>
          </a:p>
          <a:p>
            <a:endParaRPr lang="en-US" dirty="0" smtClean="0"/>
          </a:p>
          <a:p>
            <a:r>
              <a:rPr lang="en-US" dirty="0" smtClean="0"/>
              <a:t>Is this SPAM? ? YES / NO</a:t>
            </a:r>
          </a:p>
          <a:p>
            <a:r>
              <a:rPr lang="en-US" dirty="0" smtClean="0"/>
              <a:t>Is this URGENT? ? YES / NO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LIMITATION: Only gives Yes/No answers. No conversation possible.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AFDC-6E97-4A65-AC01-D4B84B18B5A9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04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Level 2 - Generative AI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Creating New Content</a:t>
            </a:r>
          </a:p>
          <a:p>
            <a:endParaRPr lang="en-US" dirty="0" smtClean="0"/>
          </a:p>
          <a:p>
            <a:r>
              <a:rPr lang="en-US" dirty="0" smtClean="0"/>
              <a:t>CAN GENERATE:</a:t>
            </a:r>
          </a:p>
          <a:p>
            <a:r>
              <a:rPr lang="en-US" dirty="0" smtClean="0"/>
              <a:t>Text | Images | Code | Videos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KEY FEATURES:</a:t>
            </a:r>
          </a:p>
          <a:p>
            <a:pPr marL="0" indent="0">
              <a:buNone/>
            </a:pPr>
            <a:r>
              <a:rPr lang="en-US" dirty="0" smtClean="0"/>
              <a:t>• Remembers context</a:t>
            </a:r>
          </a:p>
          <a:p>
            <a:pPr marL="0" indent="0">
              <a:buNone/>
            </a:pPr>
            <a:r>
              <a:rPr lang="en-US" dirty="0" smtClean="0"/>
              <a:t>• Remembers previous conversations</a:t>
            </a:r>
          </a:p>
          <a:p>
            <a:pPr marL="0" indent="0">
              <a:buNone/>
            </a:pPr>
            <a:r>
              <a:rPr lang="en-US" dirty="0" smtClean="0"/>
              <a:t>• Can read PDFs and files</a:t>
            </a:r>
          </a:p>
          <a:p>
            <a:pPr marL="0" indent="0">
              <a:buNone/>
            </a:pPr>
            <a:r>
              <a:rPr lang="en-US" dirty="0" smtClean="0"/>
              <a:t>• Can be modified and refined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BE39-352A-422D-A5EB-79D1CD4AA904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756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Level 3 - Agentic AI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End-to-End Execution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YOUR GOAL: 'Create a landing page for my VIP product'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AGENTIC AI DOES:</a:t>
            </a:r>
          </a:p>
          <a:p>
            <a:pPr marL="0" indent="0">
              <a:buNone/>
            </a:pPr>
            <a:r>
              <a:rPr lang="en-US" dirty="0" smtClean="0"/>
              <a:t>1. PLANS the approach</a:t>
            </a:r>
          </a:p>
          <a:p>
            <a:pPr marL="0" indent="0">
              <a:buNone/>
            </a:pPr>
            <a:r>
              <a:rPr lang="en-US" dirty="0" smtClean="0"/>
              <a:t>2. RESEARCHES 2026 trends</a:t>
            </a:r>
          </a:p>
          <a:p>
            <a:pPr marL="0" indent="0">
              <a:buNone/>
            </a:pPr>
            <a:r>
              <a:rPr lang="en-US" dirty="0" smtClean="0"/>
              <a:t>3. BUILDS the page</a:t>
            </a:r>
          </a:p>
          <a:p>
            <a:pPr marL="0" indent="0">
              <a:buNone/>
            </a:pPr>
            <a:r>
              <a:rPr lang="en-US" dirty="0" smtClean="0"/>
              <a:t>4. TESTS the page</a:t>
            </a:r>
          </a:p>
          <a:p>
            <a:pPr marL="0" indent="0">
              <a:buNone/>
            </a:pPr>
            <a:r>
              <a:rPr lang="en-US" dirty="0" smtClean="0"/>
              <a:t>5. FIXES issues</a:t>
            </a:r>
          </a:p>
          <a:p>
            <a:pPr marL="0" indent="0">
              <a:buNone/>
            </a:pPr>
            <a:r>
              <a:rPr lang="en-US" dirty="0" smtClean="0"/>
              <a:t>6. DEPLOYS to production</a:t>
            </a:r>
          </a:p>
          <a:p>
            <a:pPr marL="0" indent="0">
              <a:buNone/>
            </a:pPr>
            <a:r>
              <a:rPr lang="en-US" b="1" dirty="0" smtClean="0"/>
              <a:t>DELIVERS FINAL RESULT TO YOU!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02D3-45FC-42B6-9F00-3F86EDE30D8C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23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Agentic AI vs Generative AI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2360" y="1729105"/>
            <a:ext cx="4572000" cy="4351338"/>
          </a:xfrm>
          <a:ln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GENERATIVE AI (Tool):</a:t>
            </a:r>
          </a:p>
          <a:p>
            <a:pPr marL="0" indent="0">
              <a:buNone/>
            </a:pP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• One-step response</a:t>
            </a:r>
          </a:p>
          <a:p>
            <a:pPr marL="0" indent="0">
              <a:buNone/>
            </a:pP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• Generic output</a:t>
            </a:r>
          </a:p>
          <a:p>
            <a:pPr marL="0" indent="0">
              <a:buNone/>
            </a:pP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• You track performance</a:t>
            </a:r>
          </a:p>
          <a:p>
            <a:pPr marL="0" indent="0">
              <a:buNone/>
            </a:pP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• You do the rest</a:t>
            </a: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452880" y="1718945"/>
            <a:ext cx="4572000" cy="4351338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AGENTIC AI (Worker):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• End-to-end execution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• Personalized per customer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• Agent tracks performance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• Agent does everything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FC9D7-7C1D-4CE6-882F-1B06633D0B00}" type="datetime1">
              <a:rPr lang="en-US" smtClean="0"/>
              <a:t>6/23/2026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36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Makes AI 'Agentic'?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FOUR KEY COMPONENTS: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 PLANNING</a:t>
            </a:r>
          </a:p>
          <a:p>
            <a:pPr marL="0" indent="0">
              <a:buNone/>
            </a:pPr>
            <a:r>
              <a:rPr lang="en-US" dirty="0" smtClean="0"/>
              <a:t>   Breaks big goals into smaller steps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2. TOOLS USAGE</a:t>
            </a:r>
          </a:p>
          <a:p>
            <a:pPr marL="0" indent="0">
              <a:buNone/>
            </a:pPr>
            <a:r>
              <a:rPr lang="en-US" dirty="0" smtClean="0"/>
              <a:t>   Connects with the outside world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3. SELF-CORRECTION</a:t>
            </a:r>
          </a:p>
          <a:p>
            <a:pPr marL="0" indent="0">
              <a:buNone/>
            </a:pPr>
            <a:r>
              <a:rPr lang="en-US" dirty="0" smtClean="0"/>
              <a:t>   Fixes mistakes on its own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4. PERSISTENCE</a:t>
            </a:r>
          </a:p>
          <a:p>
            <a:pPr marL="0" indent="0">
              <a:buNone/>
            </a:pPr>
            <a:r>
              <a:rPr lang="en-US" dirty="0" smtClean="0"/>
              <a:t>   Keeps trying until goal is achieved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5D036-0C80-463C-AA1D-CB166BC4C822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44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From Tools to Workers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TOOL MODE:</a:t>
            </a:r>
          </a:p>
          <a:p>
            <a:pPr marL="0" indent="0">
              <a:buNone/>
            </a:pPr>
            <a:r>
              <a:rPr lang="en-US" dirty="0" smtClean="0"/>
              <a:t>You - Use Tool </a:t>
            </a:r>
            <a:r>
              <a:rPr lang="en-US" dirty="0" smtClean="0"/>
              <a:t>-</a:t>
            </a:r>
            <a:r>
              <a:rPr lang="en-US" dirty="0" smtClean="0"/>
              <a:t> You do the rest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WORKER MODE:</a:t>
            </a:r>
          </a:p>
          <a:p>
            <a:pPr marL="0" indent="0">
              <a:buNone/>
            </a:pPr>
            <a:r>
              <a:rPr lang="en-US" dirty="0" smtClean="0"/>
              <a:t>You </a:t>
            </a:r>
            <a:r>
              <a:rPr lang="en-US" dirty="0" smtClean="0"/>
              <a:t>-</a:t>
            </a:r>
            <a:r>
              <a:rPr lang="en-US" dirty="0" smtClean="0"/>
              <a:t> Give Goal </a:t>
            </a:r>
            <a:r>
              <a:rPr lang="en-US" dirty="0" smtClean="0"/>
              <a:t>-</a:t>
            </a:r>
            <a:r>
              <a:rPr lang="en-US" dirty="0" smtClean="0"/>
              <a:t> Worker Executes </a:t>
            </a:r>
            <a:r>
              <a:rPr lang="en-US" dirty="0" smtClean="0"/>
              <a:t>-</a:t>
            </a:r>
            <a:r>
              <a:rPr lang="en-US" dirty="0" smtClean="0"/>
              <a:t> You Review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Smart Tools vs Smart Workers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B60C-1376-43FB-ACE9-B0F078E64C39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445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Email Marketing: Tool vs Worker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GENERATIVE AI (Tool):</a:t>
            </a:r>
          </a:p>
          <a:p>
            <a:pPr marL="0" indent="0">
              <a:buNone/>
            </a:pPr>
            <a:r>
              <a:rPr lang="en-US" dirty="0" smtClean="0"/>
              <a:t>• Creates a draft email</a:t>
            </a:r>
          </a:p>
          <a:p>
            <a:pPr marL="0" indent="0">
              <a:buNone/>
            </a:pPr>
            <a:r>
              <a:rPr lang="en-US" dirty="0" smtClean="0"/>
              <a:t>• You must send to all customers</a:t>
            </a:r>
          </a:p>
          <a:p>
            <a:pPr marL="0" indent="0">
              <a:buNone/>
            </a:pPr>
            <a:r>
              <a:rPr lang="en-US" dirty="0" smtClean="0"/>
              <a:t>• You must track performance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AGENTIC AI (Worker):</a:t>
            </a:r>
          </a:p>
          <a:p>
            <a:pPr marL="0" indent="0">
              <a:buNone/>
            </a:pPr>
            <a:r>
              <a:rPr lang="en-US" dirty="0" smtClean="0"/>
              <a:t>• Drafts personalized emails</a:t>
            </a:r>
          </a:p>
          <a:p>
            <a:pPr marL="0" indent="0">
              <a:buNone/>
            </a:pPr>
            <a:r>
              <a:rPr lang="en-US" dirty="0" smtClean="0"/>
              <a:t>• Sends to all customers automatically</a:t>
            </a:r>
          </a:p>
          <a:p>
            <a:pPr marL="0" indent="0">
              <a:buNone/>
            </a:pPr>
            <a:r>
              <a:rPr lang="en-US" dirty="0" smtClean="0"/>
              <a:t>• Tracks performance automatically</a:t>
            </a:r>
          </a:p>
          <a:p>
            <a:pPr marL="0" indent="0">
              <a:buNone/>
            </a:pPr>
            <a:r>
              <a:rPr lang="en-US" dirty="0" smtClean="0"/>
              <a:t>• Analyzes and suggests improvements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45F37-F795-4C80-92CB-4FEE1D99C317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662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10-80-10 Rule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10% - HUMAN: Direction &amp; Intent</a:t>
            </a:r>
          </a:p>
          <a:p>
            <a:pPr marL="0" indent="0">
              <a:buNone/>
            </a:pPr>
            <a:r>
              <a:rPr lang="en-US" dirty="0" smtClean="0"/>
              <a:t>'I want a professional website'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80% - AI WORKER: Execution</a:t>
            </a:r>
          </a:p>
          <a:p>
            <a:pPr marL="0" indent="0">
              <a:buNone/>
            </a:pPr>
            <a:r>
              <a:rPr lang="en-US" dirty="0" smtClean="0"/>
              <a:t>Researches, plans, builds, tests, fixes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10% - HUMAN: Verification &amp; Judgment</a:t>
            </a:r>
          </a:p>
          <a:p>
            <a:pPr marL="0" indent="0">
              <a:buNone/>
            </a:pPr>
            <a:r>
              <a:rPr lang="en-US" dirty="0" smtClean="0"/>
              <a:t>Reviews, approves, or requests changes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Humans are PROMOTED, not replaced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6074B-DFE5-4D4C-A925-5AA5C0F26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60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is an Agent Factory?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GARMENT FACTORY:</a:t>
            </a:r>
          </a:p>
          <a:p>
            <a:pPr marL="0" indent="0">
              <a:buNone/>
            </a:pPr>
            <a:r>
              <a:rPr lang="en-US" dirty="0" smtClean="0"/>
              <a:t>Raw Materials - Cutting </a:t>
            </a:r>
            <a:r>
              <a:rPr lang="en-US" dirty="0" smtClean="0"/>
              <a:t>-</a:t>
            </a:r>
            <a:r>
              <a:rPr lang="en-US" dirty="0" smtClean="0"/>
              <a:t> Stitching </a:t>
            </a:r>
            <a:r>
              <a:rPr lang="en-US" dirty="0" smtClean="0"/>
              <a:t>-</a:t>
            </a:r>
            <a:r>
              <a:rPr lang="en-US" dirty="0" smtClean="0"/>
              <a:t> Quality Check </a:t>
            </a:r>
            <a:r>
              <a:rPr lang="en-US" dirty="0" smtClean="0"/>
              <a:t>-</a:t>
            </a:r>
            <a:r>
              <a:rPr lang="en-US" dirty="0" smtClean="0"/>
              <a:t> Shipping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AGENT FACTORY:</a:t>
            </a:r>
          </a:p>
          <a:p>
            <a:pPr marL="0" indent="0">
              <a:buNone/>
            </a:pPr>
            <a:r>
              <a:rPr lang="en-US" dirty="0" smtClean="0"/>
              <a:t>AI Models </a:t>
            </a:r>
            <a:r>
              <a:rPr lang="en-US" dirty="0" smtClean="0"/>
              <a:t>-</a:t>
            </a:r>
            <a:r>
              <a:rPr lang="en-US" dirty="0" smtClean="0"/>
              <a:t> Training </a:t>
            </a:r>
            <a:r>
              <a:rPr lang="en-US" dirty="0" smtClean="0"/>
              <a:t>-</a:t>
            </a:r>
            <a:r>
              <a:rPr lang="en-US" dirty="0" smtClean="0"/>
              <a:t> Testing </a:t>
            </a:r>
            <a:r>
              <a:rPr lang="en-US" dirty="0" smtClean="0"/>
              <a:t>-</a:t>
            </a:r>
            <a:r>
              <a:rPr lang="en-US" dirty="0" smtClean="0"/>
              <a:t> Validation </a:t>
            </a:r>
            <a:r>
              <a:rPr lang="en-US" dirty="0" smtClean="0"/>
              <a:t>-</a:t>
            </a:r>
            <a:r>
              <a:rPr lang="en-US" dirty="0" smtClean="0"/>
              <a:t> Deployment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Agent Factory = A process that produces AI Workers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D792-DD03-4873-899B-1F81EE239DAD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35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is an AI Native Company?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TRADITIONAL COMPANY:</a:t>
            </a:r>
          </a:p>
          <a:p>
            <a:pPr marL="0" indent="0">
              <a:buNone/>
            </a:pPr>
            <a:r>
              <a:rPr lang="en-US" dirty="0" smtClean="0"/>
              <a:t>200 Human Support Agents </a:t>
            </a:r>
            <a:r>
              <a:rPr lang="en-US" dirty="0" smtClean="0"/>
              <a:t>-</a:t>
            </a:r>
            <a:r>
              <a:rPr lang="en-US" dirty="0" smtClean="0"/>
              <a:t> Answering calls, emails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AI NATIVE COMPANY:</a:t>
            </a:r>
          </a:p>
          <a:p>
            <a:pPr marL="0" indent="0">
              <a:buNone/>
            </a:pPr>
            <a:r>
              <a:rPr lang="en-US" dirty="0" smtClean="0"/>
              <a:t>190 AI Workers </a:t>
            </a:r>
            <a:r>
              <a:rPr lang="en-US" dirty="0" smtClean="0"/>
              <a:t>-</a:t>
            </a:r>
            <a:r>
              <a:rPr lang="en-US" dirty="0" smtClean="0"/>
              <a:t> Handle routine queries</a:t>
            </a:r>
          </a:p>
          <a:p>
            <a:pPr marL="0" indent="0">
              <a:buNone/>
            </a:pPr>
            <a:r>
              <a:rPr lang="en-US" dirty="0" smtClean="0"/>
              <a:t>10 Human Supervisors </a:t>
            </a:r>
            <a:r>
              <a:rPr lang="en-US" dirty="0" smtClean="0"/>
              <a:t>-</a:t>
            </a:r>
            <a:r>
              <a:rPr lang="en-US" dirty="0" smtClean="0"/>
              <a:t> Manage AI Workers</a:t>
            </a:r>
          </a:p>
          <a:p>
            <a:pPr marL="0" indent="0">
              <a:buNone/>
            </a:pPr>
            <a:r>
              <a:rPr lang="en-US" dirty="0" smtClean="0"/>
              <a:t>                    - Handle complex cases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Result: Faster, Cheaper, 24/7 Service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B10B-9B2D-4EC2-BB70-F72399C8548F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20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You Are PROMOTED, Not Replaced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OLD ROLE - NEW ROLE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Typist -&gt; Editor</a:t>
            </a:r>
          </a:p>
          <a:p>
            <a:pPr marL="0" indent="0">
              <a:buNone/>
            </a:pPr>
            <a:r>
              <a:rPr lang="en-US" dirty="0" smtClean="0"/>
              <a:t>Coder </a:t>
            </a:r>
            <a:r>
              <a:rPr lang="en-US" dirty="0" smtClean="0"/>
              <a:t>-&gt;</a:t>
            </a:r>
            <a:r>
              <a:rPr lang="en-US" dirty="0" smtClean="0"/>
              <a:t> Architect</a:t>
            </a:r>
          </a:p>
          <a:p>
            <a:pPr marL="0" indent="0">
              <a:buNone/>
            </a:pPr>
            <a:r>
              <a:rPr lang="en-US" dirty="0" smtClean="0"/>
              <a:t>Worker </a:t>
            </a:r>
            <a:r>
              <a:rPr lang="en-US" dirty="0" smtClean="0"/>
              <a:t>-&gt;</a:t>
            </a:r>
            <a:r>
              <a:rPr lang="en-US" dirty="0" smtClean="0"/>
              <a:t> Director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'I do the work' </a:t>
            </a:r>
            <a:r>
              <a:rPr lang="en-US" dirty="0" smtClean="0"/>
              <a:t>-&gt;</a:t>
            </a:r>
            <a:r>
              <a:rPr lang="en-US" dirty="0" smtClean="0"/>
              <a:t> 'I direct the AI to do the work'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AI takes over the middle 80%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D3625-1B76-4E5F-817F-D481316459AF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01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Your Digital Twin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Personal AI Assistant that works on your behalf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YOU (CEO) </a:t>
            </a:r>
            <a:r>
              <a:rPr lang="en-US" dirty="0" smtClean="0"/>
              <a:t>-&gt;</a:t>
            </a:r>
            <a:r>
              <a:rPr lang="en-US" dirty="0" smtClean="0"/>
              <a:t> AI DELEGATE (Digital Twin)</a:t>
            </a:r>
          </a:p>
          <a:p>
            <a:pPr marL="0" indent="0">
              <a:buNone/>
            </a:pPr>
            <a:r>
              <a:rPr lang="en-US" dirty="0" smtClean="0"/>
              <a:t>                    </a:t>
            </a:r>
          </a:p>
          <a:p>
            <a:pPr marL="0" indent="0">
              <a:buNone/>
            </a:pPr>
            <a:r>
              <a:rPr lang="en-US" dirty="0" smtClean="0"/>
              <a:t>     Research | Schedule | Follow-up | Reports | Budget | Analyze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You manage ONE AI Delegate, not 20 AI Workers directly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29DF-9224-471B-A641-F374B1DCEB68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64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Two Layers of AI Company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EDGE LAYER (Management)</a:t>
            </a:r>
          </a:p>
          <a:p>
            <a:pPr marL="0" indent="0">
              <a:buNone/>
            </a:pPr>
            <a:r>
              <a:rPr lang="en-US" dirty="0" smtClean="0"/>
              <a:t>= Your AI Delegate (Digital Twin)</a:t>
            </a:r>
          </a:p>
          <a:p>
            <a:pPr marL="0" indent="0">
              <a:buNone/>
            </a:pPr>
            <a:r>
              <a:rPr lang="en-US" dirty="0" smtClean="0"/>
              <a:t>• Understands your preferences</a:t>
            </a:r>
          </a:p>
          <a:p>
            <a:pPr marL="0" indent="0">
              <a:buNone/>
            </a:pPr>
            <a:r>
              <a:rPr lang="en-US" dirty="0" smtClean="0"/>
              <a:t>• Approves/Rejects</a:t>
            </a:r>
          </a:p>
          <a:p>
            <a:pPr marL="0" indent="0">
              <a:buNone/>
            </a:pPr>
            <a:r>
              <a:rPr lang="en-US" dirty="0" smtClean="0"/>
              <a:t>• Schedules meetings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WORK FORCE LAYER (Worker)</a:t>
            </a:r>
          </a:p>
          <a:p>
            <a:pPr marL="0" indent="0">
              <a:buNone/>
            </a:pPr>
            <a:r>
              <a:rPr lang="en-US" dirty="0" smtClean="0"/>
              <a:t>= Specialized AI Workers</a:t>
            </a:r>
          </a:p>
          <a:p>
            <a:pPr marL="0" indent="0">
              <a:buNone/>
            </a:pPr>
            <a:r>
              <a:rPr lang="en-US" dirty="0" smtClean="0"/>
              <a:t>• Research Specialist</a:t>
            </a:r>
          </a:p>
          <a:p>
            <a:pPr marL="0" indent="0">
              <a:buNone/>
            </a:pPr>
            <a:r>
              <a:rPr lang="en-US" dirty="0" smtClean="0"/>
              <a:t>• Report Specialist</a:t>
            </a:r>
          </a:p>
          <a:p>
            <a:pPr marL="0" indent="0">
              <a:buNone/>
            </a:pPr>
            <a:r>
              <a:rPr lang="en-US" dirty="0" smtClean="0"/>
              <a:t>• Budget Specialist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10C5-50E5-4C2E-9D55-73506E035595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269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Two Modes of Problem Solving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MODE 1: One-Time Solution (Tool)</a:t>
            </a:r>
          </a:p>
          <a:p>
            <a:pPr marL="0" indent="0">
              <a:buNone/>
            </a:pPr>
            <a:r>
              <a:rPr lang="en-US" dirty="0" smtClean="0"/>
              <a:t>Problem: Hungry </a:t>
            </a:r>
            <a:r>
              <a:rPr lang="en-US" dirty="0" smtClean="0"/>
              <a:t>-&gt;</a:t>
            </a:r>
            <a:r>
              <a:rPr lang="en-US" dirty="0" smtClean="0"/>
              <a:t> Solution: Catch one fish </a:t>
            </a:r>
            <a:r>
              <a:rPr lang="en-US" dirty="0" smtClean="0"/>
              <a:t>-&gt;</a:t>
            </a:r>
            <a:r>
              <a:rPr lang="en-US" dirty="0" smtClean="0"/>
              <a:t> Ate and done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MODE 2: Sustainable Solution (Worker)</a:t>
            </a:r>
          </a:p>
          <a:p>
            <a:pPr marL="0" indent="0">
              <a:buNone/>
            </a:pPr>
            <a:r>
              <a:rPr lang="en-US" dirty="0" smtClean="0"/>
              <a:t>Problem: Hungry daily </a:t>
            </a:r>
            <a:r>
              <a:rPr lang="en-US" dirty="0" smtClean="0"/>
              <a:t>-&gt;</a:t>
            </a:r>
            <a:r>
              <a:rPr lang="en-US" dirty="0" smtClean="0"/>
              <a:t> Solution: Create fishing net</a:t>
            </a:r>
          </a:p>
          <a:p>
            <a:pPr marL="0" indent="0">
              <a:buNone/>
            </a:pPr>
            <a:r>
              <a:rPr lang="en-US" dirty="0" smtClean="0"/>
              <a:t>-&gt;</a:t>
            </a:r>
            <a:r>
              <a:rPr lang="en-US" dirty="0" smtClean="0"/>
              <a:t> Catch multiple fish daily </a:t>
            </a:r>
            <a:r>
              <a:rPr lang="en-US" dirty="0" smtClean="0"/>
              <a:t>-&gt;</a:t>
            </a:r>
            <a:r>
              <a:rPr lang="en-US" dirty="0" smtClean="0"/>
              <a:t> Eat + Sell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Choose wisely: One-time </a:t>
            </a:r>
            <a:r>
              <a:rPr lang="en-US" dirty="0" smtClean="0"/>
              <a:t>-&gt;</a:t>
            </a:r>
            <a:r>
              <a:rPr lang="en-US" dirty="0" smtClean="0"/>
              <a:t> Use AI Tool | Recurring </a:t>
            </a:r>
            <a:r>
              <a:rPr lang="en-US" dirty="0" smtClean="0"/>
              <a:t>-&gt;</a:t>
            </a:r>
            <a:r>
              <a:rPr lang="en-US" dirty="0" smtClean="0"/>
              <a:t> Build AI Worker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1B6F0-9DC7-466D-81F2-F65F4F64D907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77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Seven Golden Rules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1. Human Always in Charge</a:t>
            </a:r>
          </a:p>
          <a:p>
            <a:pPr marL="0" indent="0">
              <a:buNone/>
            </a:pPr>
            <a:r>
              <a:rPr lang="en-US" dirty="0" smtClean="0"/>
              <a:t>2. Every Human Gets an AI Delegate</a:t>
            </a:r>
          </a:p>
          <a:p>
            <a:pPr marL="0" indent="0">
              <a:buNone/>
            </a:pPr>
            <a:r>
              <a:rPr lang="en-US" dirty="0" smtClean="0"/>
              <a:t>3. Work Force Needs Management Layer</a:t>
            </a:r>
          </a:p>
          <a:p>
            <a:pPr marL="0" indent="0">
              <a:buNone/>
            </a:pPr>
            <a:r>
              <a:rPr lang="en-US" dirty="0" smtClean="0"/>
              <a:t>4. Right Engine for Each Worker</a:t>
            </a:r>
          </a:p>
          <a:p>
            <a:pPr marL="0" indent="0">
              <a:buNone/>
            </a:pPr>
            <a:r>
              <a:rPr lang="en-US" dirty="0" smtClean="0"/>
              <a:t>5. System of Record</a:t>
            </a:r>
          </a:p>
          <a:p>
            <a:pPr marL="0" indent="0">
              <a:buNone/>
            </a:pPr>
            <a:r>
              <a:rPr lang="en-US" dirty="0" smtClean="0"/>
              <a:t>6. Work Force Can Grow Under Rules</a:t>
            </a:r>
          </a:p>
          <a:p>
            <a:pPr marL="0" indent="0">
              <a:buNone/>
            </a:pPr>
            <a:r>
              <a:rPr lang="en-US" dirty="0" smtClean="0"/>
              <a:t>7. Company Runs on a Nervous System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90930-6D4D-41EA-927D-A26F2ECE1618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228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Rules 1-3: Detailed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1. Human Always in Charge</a:t>
            </a:r>
          </a:p>
          <a:p>
            <a:pPr marL="0" indent="0">
              <a:buNone/>
            </a:pPr>
            <a:r>
              <a:rPr lang="en-US" dirty="0" smtClean="0"/>
              <a:t>   • Sets direction (first 10%)</a:t>
            </a:r>
          </a:p>
          <a:p>
            <a:pPr marL="0" indent="0">
              <a:buNone/>
            </a:pPr>
            <a:r>
              <a:rPr lang="en-US" dirty="0" smtClean="0"/>
              <a:t>   • Verifies results (last 10%)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2. Every Human Gets an AI Delegate</a:t>
            </a:r>
          </a:p>
          <a:p>
            <a:pPr marL="0" indent="0">
              <a:buNone/>
            </a:pPr>
            <a:r>
              <a:rPr lang="en-US" dirty="0" smtClean="0"/>
              <a:t>   • Digital twin to manage AI workers</a:t>
            </a:r>
          </a:p>
          <a:p>
            <a:pPr marL="0" indent="0">
              <a:buNone/>
            </a:pPr>
            <a:r>
              <a:rPr lang="en-US" dirty="0" smtClean="0"/>
              <a:t>   • Keeps pace with AI speed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3. Work Force Needs Management Layer</a:t>
            </a:r>
          </a:p>
          <a:p>
            <a:pPr marL="0" indent="0">
              <a:buNone/>
            </a:pPr>
            <a:r>
              <a:rPr lang="en-US" dirty="0" smtClean="0"/>
              <a:t>   • Hires new workers</a:t>
            </a:r>
          </a:p>
          <a:p>
            <a:pPr marL="0" indent="0">
              <a:buNone/>
            </a:pPr>
            <a:r>
              <a:rPr lang="en-US" dirty="0" smtClean="0"/>
              <a:t>   • Assigns tasks</a:t>
            </a:r>
          </a:p>
          <a:p>
            <a:pPr marL="0" indent="0">
              <a:buNone/>
            </a:pPr>
            <a:r>
              <a:rPr lang="en-US" dirty="0" smtClean="0"/>
              <a:t>   • Monitors performance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FDDFA-CFBB-4988-BE80-9A2494B5ECD8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88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Rules 4-7: Detailed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4. Right Engine for Each Worker</a:t>
            </a:r>
          </a:p>
          <a:p>
            <a:pPr marL="0" indent="0">
              <a:buNone/>
            </a:pPr>
            <a:r>
              <a:rPr lang="en-US" dirty="0" smtClean="0"/>
              <a:t>   • Match compute power to task requirements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5. System of Record</a:t>
            </a:r>
          </a:p>
          <a:p>
            <a:pPr marL="0" indent="0">
              <a:buNone/>
            </a:pPr>
            <a:r>
              <a:rPr lang="en-US" dirty="0" smtClean="0"/>
              <a:t>   • Access to REAL company data</a:t>
            </a:r>
          </a:p>
          <a:p>
            <a:pPr marL="0" indent="0">
              <a:buNone/>
            </a:pPr>
            <a:r>
              <a:rPr lang="en-US" dirty="0" smtClean="0"/>
              <a:t>   • Know real-time orders, sales, behavior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6. Work Force Can Grow Under Rules</a:t>
            </a:r>
          </a:p>
          <a:p>
            <a:pPr marL="0" indent="0">
              <a:buNone/>
            </a:pPr>
            <a:r>
              <a:rPr lang="en-US" dirty="0" smtClean="0"/>
              <a:t>   • Defined scope and budget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7. Company Runs on a Nervous System</a:t>
            </a:r>
          </a:p>
          <a:p>
            <a:pPr marL="0" indent="0">
              <a:buNone/>
            </a:pPr>
            <a:r>
              <a:rPr lang="en-US" dirty="0" smtClean="0"/>
              <a:t>   • Self-healing, internal communication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E5AB-F15B-49A0-8291-427410787107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53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Your Home Task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Step 1: Read the Thesis</a:t>
            </a:r>
          </a:p>
          <a:p>
            <a:pPr marL="0" indent="0">
              <a:buNone/>
            </a:pPr>
            <a:r>
              <a:rPr lang="en-US" dirty="0" smtClean="0"/>
              <a:t>• Found in Agent Factory Book</a:t>
            </a:r>
          </a:p>
          <a:p>
            <a:pPr marL="0" indent="0">
              <a:buNone/>
            </a:pPr>
            <a:r>
              <a:rPr lang="en-US" dirty="0" smtClean="0"/>
              <a:t>• Read the plain English version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Step 2: Create an AI Worker Example</a:t>
            </a:r>
          </a:p>
          <a:p>
            <a:pPr marL="0" indent="0">
              <a:buNone/>
            </a:pPr>
            <a:r>
              <a:rPr lang="en-US" dirty="0" smtClean="0"/>
              <a:t>• Pick YOUR domain</a:t>
            </a:r>
          </a:p>
          <a:p>
            <a:pPr marL="0" indent="0">
              <a:buNone/>
            </a:pPr>
            <a:r>
              <a:rPr lang="en-US" dirty="0" smtClean="0"/>
              <a:t>• Follow the 5 steps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Step 3: Share on Discussion Group</a:t>
            </a:r>
          </a:p>
          <a:p>
            <a:pPr marL="0" indent="0">
              <a:buNone/>
            </a:pPr>
            <a:r>
              <a:rPr lang="en-US" dirty="0" smtClean="0"/>
              <a:t>• Share with peers</a:t>
            </a:r>
          </a:p>
          <a:p>
            <a:pPr marL="0" indent="0">
              <a:buNone/>
            </a:pPr>
            <a:r>
              <a:rPr lang="en-US" dirty="0" smtClean="0"/>
              <a:t>• Learn from different domains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86F4A-4870-4135-BA08-C3A8A3FCD709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383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Five Steps to Build an AI Worker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E-COMMERCE SMART AI WORKER EXAMPLE: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 Clear Instructions - Define the goal</a:t>
            </a:r>
          </a:p>
          <a:p>
            <a:pPr marL="0" indent="0">
              <a:buNone/>
            </a:pPr>
            <a:r>
              <a:rPr lang="en-US" dirty="0" smtClean="0"/>
              <a:t>2. Connect to Company Records - Access real data</a:t>
            </a:r>
          </a:p>
          <a:p>
            <a:pPr marL="0" indent="0">
              <a:buNone/>
            </a:pPr>
            <a:r>
              <a:rPr lang="en-US" dirty="0" smtClean="0"/>
              <a:t>3. Define Skills - What the worker can do</a:t>
            </a:r>
          </a:p>
          <a:p>
            <a:pPr marL="0" indent="0">
              <a:buNone/>
            </a:pPr>
            <a:r>
              <a:rPr lang="en-US" dirty="0" smtClean="0"/>
              <a:t>4. Set Domain Limits - Boundaries &amp; guardrails</a:t>
            </a:r>
          </a:p>
          <a:p>
            <a:pPr marL="0" indent="0">
              <a:buNone/>
            </a:pPr>
            <a:r>
              <a:rPr lang="en-US" dirty="0" smtClean="0"/>
              <a:t>5. Test &amp; Deploy - Validate and ship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-&gt;</a:t>
            </a:r>
            <a:r>
              <a:rPr lang="en-US" dirty="0" smtClean="0"/>
              <a:t> Apply these 5 steps to YOUR domain!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B426D-9EA4-4BC5-A455-DE097F79800C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8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Key Vocabulary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Predictive AI: Yes/No classification (spam detection)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Generative AI: Creates new content (</a:t>
            </a:r>
            <a:r>
              <a:rPr lang="en-US" dirty="0" err="1" smtClean="0"/>
              <a:t>ChatGPT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Agentic AI: End-to-end execution (AI Worker)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AI Worker: AI that performs tasks like a human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Agent Factory: Process that produces AI Workers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AI Native Company: Company using AI Workers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236F-56BE-4061-9282-509E8F1FE0B8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725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Future is Here: Summary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1. Three levels: Predictive </a:t>
            </a:r>
            <a:r>
              <a:rPr lang="en-US" dirty="0" smtClean="0"/>
              <a:t>-&gt;</a:t>
            </a:r>
            <a:r>
              <a:rPr lang="en-US" dirty="0" smtClean="0"/>
              <a:t> Generative </a:t>
            </a:r>
            <a:r>
              <a:rPr lang="en-US" dirty="0" smtClean="0"/>
              <a:t>-&gt;</a:t>
            </a:r>
            <a:r>
              <a:rPr lang="en-US" dirty="0" smtClean="0"/>
              <a:t> Agentic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2. AI Workers = End-to-end task execution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3. Agent Factory = Process to create AI Workers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4. AI Native Companies = AI-powered businesses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5. 10-80-10 Rule = Humans direct, AI executes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6. 7 Golden Rules = Non-negotiable principles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7. Two Modes = One-time vs Sustainable solution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797AF-9A21-4FA5-A722-E11657A6E069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259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You Will Achieve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After This Course, You Will Be Able To: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-&gt;</a:t>
            </a:r>
            <a:r>
              <a:rPr lang="en-US" dirty="0" smtClean="0"/>
              <a:t> Identify problems that need AI Workers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-&gt;</a:t>
            </a:r>
            <a:r>
              <a:rPr lang="en-US" dirty="0" smtClean="0"/>
              <a:t> Create your own AI Workers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-&gt;</a:t>
            </a:r>
            <a:r>
              <a:rPr lang="en-US" dirty="0" smtClean="0"/>
              <a:t> Deploy AI Workers in your daily work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-&gt;</a:t>
            </a:r>
            <a:r>
              <a:rPr lang="en-US" dirty="0" smtClean="0"/>
              <a:t> Think differently about problem-solving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-&gt;</a:t>
            </a:r>
            <a:r>
              <a:rPr lang="en-US" dirty="0" smtClean="0"/>
              <a:t> Design AI solutions for clients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-&gt;</a:t>
            </a:r>
            <a:r>
              <a:rPr lang="en-US" dirty="0" smtClean="0"/>
              <a:t> Position yourself for the AI era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772A3-088F-461A-BBE2-846C2968460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379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Next Steps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Read the Thesis</a:t>
            </a:r>
          </a:p>
          <a:p>
            <a:pPr marL="0" indent="0">
              <a:buNone/>
            </a:pPr>
            <a:r>
              <a:rPr lang="en-US" dirty="0" smtClean="0"/>
              <a:t>• Found in Agent Factory Book</a:t>
            </a:r>
          </a:p>
          <a:p>
            <a:pPr marL="0" indent="0">
              <a:buNone/>
            </a:pPr>
            <a:r>
              <a:rPr lang="en-US" dirty="0" smtClean="0"/>
              <a:t>• Plain English version available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Complete the Assignment</a:t>
            </a:r>
          </a:p>
          <a:p>
            <a:pPr marL="0" indent="0">
              <a:buNone/>
            </a:pPr>
            <a:r>
              <a:rPr lang="en-US" dirty="0" smtClean="0"/>
              <a:t>• Create an AI Worker example from your domain</a:t>
            </a:r>
          </a:p>
          <a:p>
            <a:pPr marL="0" indent="0">
              <a:buNone/>
            </a:pPr>
            <a:r>
              <a:rPr lang="en-US" dirty="0" smtClean="0"/>
              <a:t>• Follow the 5 steps</a:t>
            </a:r>
          </a:p>
          <a:p>
            <a:pPr marL="0" indent="0">
              <a:buNone/>
            </a:pPr>
            <a:r>
              <a:rPr lang="en-US" dirty="0" smtClean="0"/>
              <a:t>• Share on discussion group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Stay Connected</a:t>
            </a:r>
          </a:p>
          <a:p>
            <a:pPr marL="0" indent="0">
              <a:buNone/>
            </a:pPr>
            <a:r>
              <a:rPr lang="en-US" dirty="0" smtClean="0"/>
              <a:t>• Join WhatsApp groups</a:t>
            </a:r>
          </a:p>
          <a:p>
            <a:pPr marL="0" indent="0">
              <a:buNone/>
            </a:pPr>
            <a:r>
              <a:rPr lang="en-US" dirty="0" smtClean="0"/>
              <a:t>• Attend next class (after </a:t>
            </a:r>
            <a:r>
              <a:rPr lang="en-US" dirty="0" err="1" smtClean="0"/>
              <a:t>Eid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• Use 'Ask' and 'Teach Me' modes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4A60E-624A-40EE-9290-88E1C251F4C4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067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Final Message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 smtClean="0"/>
              <a:t>You are NOT being replaced. You are being PROMOTED.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From Worker </a:t>
            </a:r>
            <a:r>
              <a:rPr lang="en-US" dirty="0" smtClean="0"/>
              <a:t>-&gt;</a:t>
            </a:r>
            <a:r>
              <a:rPr lang="en-US" dirty="0" smtClean="0"/>
              <a:t> Director</a:t>
            </a:r>
          </a:p>
          <a:p>
            <a:pPr marL="0" indent="0">
              <a:buNone/>
            </a:pPr>
            <a:r>
              <a:rPr lang="en-US" dirty="0" smtClean="0"/>
              <a:t>From Coder </a:t>
            </a:r>
            <a:r>
              <a:rPr lang="en-US" dirty="0" smtClean="0"/>
              <a:t>-&gt;</a:t>
            </a:r>
            <a:r>
              <a:rPr lang="en-US" dirty="0" smtClean="0"/>
              <a:t> Architect</a:t>
            </a:r>
          </a:p>
          <a:p>
            <a:pPr marL="0" indent="0">
              <a:buNone/>
            </a:pPr>
            <a:r>
              <a:rPr lang="en-US" dirty="0" smtClean="0"/>
              <a:t>From Typist </a:t>
            </a:r>
            <a:r>
              <a:rPr lang="en-US" dirty="0" smtClean="0"/>
              <a:t>-&gt;</a:t>
            </a:r>
            <a:r>
              <a:rPr lang="en-US" dirty="0" smtClean="0"/>
              <a:t> Editor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b="1" dirty="0" smtClean="0"/>
              <a:t>The Future Belongs to Those Who Learn to Direct AI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0BDE8-F88B-4A52-BC3D-10217A5AE1C8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0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Thank You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Questions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WhatsApp: Main &amp; Discussion Groups</a:t>
            </a:r>
          </a:p>
          <a:p>
            <a:pPr marL="0" indent="0">
              <a:buNone/>
            </a:pPr>
            <a:r>
              <a:rPr lang="en-US" dirty="0" smtClean="0"/>
              <a:t>Portal: </a:t>
            </a:r>
            <a:r>
              <a:rPr lang="en-US" dirty="0" err="1" smtClean="0"/>
              <a:t>Panaversity</a:t>
            </a:r>
            <a:r>
              <a:rPr lang="en-US" dirty="0" smtClean="0"/>
              <a:t> Portal</a:t>
            </a:r>
          </a:p>
          <a:p>
            <a:pPr marL="0" indent="0">
              <a:buNone/>
            </a:pPr>
            <a:r>
              <a:rPr lang="en-US" dirty="0" smtClean="0"/>
              <a:t>Agent Factory Book: [Link]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Eid</a:t>
            </a:r>
            <a:r>
              <a:rPr lang="en-US" dirty="0" smtClean="0"/>
              <a:t> Mubarak!</a:t>
            </a:r>
          </a:p>
          <a:p>
            <a:pPr marL="0" indent="0">
              <a:buNone/>
            </a:pPr>
            <a:r>
              <a:rPr lang="en-US" dirty="0" smtClean="0"/>
              <a:t>See you after the holidays!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1766A-B75B-437B-8F48-996162F02AD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Orientation - Agentic AI Architect Program (Pana-101-P011)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15AB-176C-4AD8-8979-83611F5269E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47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1885</Words>
  <Application>Microsoft Office PowerPoint</Application>
  <PresentationFormat>Widescreen</PresentationFormat>
  <Paragraphs>428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Agentic AI: From Tools to Workers</vt:lpstr>
      <vt:lpstr>Meet Your Instructors</vt:lpstr>
      <vt:lpstr>The Core Message</vt:lpstr>
      <vt:lpstr>The Revolution in AI</vt:lpstr>
      <vt:lpstr>What is Artificial Intelligence?</vt:lpstr>
      <vt:lpstr>AI is Everywhere</vt:lpstr>
      <vt:lpstr>Level 1 - Predictive AI</vt:lpstr>
      <vt:lpstr>Level 2 - Generative AI</vt:lpstr>
      <vt:lpstr>Level 3 - Agentic AI</vt:lpstr>
      <vt:lpstr>Agentic AI vs Generative AI</vt:lpstr>
      <vt:lpstr>What Makes AI 'Agentic'?</vt:lpstr>
      <vt:lpstr>From Tools to Workers</vt:lpstr>
      <vt:lpstr>Email Marketing: Tool vs Worker</vt:lpstr>
      <vt:lpstr>The 10-80-10 Rule</vt:lpstr>
      <vt:lpstr>What is an Agent Factory?</vt:lpstr>
      <vt:lpstr>What is an AI Native Company?</vt:lpstr>
      <vt:lpstr>You Are PROMOTED, Not Replaced</vt:lpstr>
      <vt:lpstr>Your Digital Twin</vt:lpstr>
      <vt:lpstr>Two Layers of AI Company</vt:lpstr>
      <vt:lpstr>Two Modes of Problem Solving</vt:lpstr>
      <vt:lpstr>Seven Golden Rules</vt:lpstr>
      <vt:lpstr>Rules 1-3: Detailed</vt:lpstr>
      <vt:lpstr>Rules 4-7: Detailed</vt:lpstr>
      <vt:lpstr>Your Home Task</vt:lpstr>
      <vt:lpstr>Five Steps to Build an AI Worker</vt:lpstr>
      <vt:lpstr>Key Vocabulary</vt:lpstr>
      <vt:lpstr>The Future is Here: Summary</vt:lpstr>
      <vt:lpstr>What You Will Achieve</vt:lpstr>
      <vt:lpstr>Next Steps</vt:lpstr>
      <vt:lpstr>Final Message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AI: From Tools to Workers</dc:title>
  <dc:creator>Muhammad Haris Bandukda</dc:creator>
  <cp:lastModifiedBy>Muhammad Haris Bandukda</cp:lastModifiedBy>
  <cp:revision>4</cp:revision>
  <dcterms:created xsi:type="dcterms:W3CDTF">2026-06-23T13:51:26Z</dcterms:created>
  <dcterms:modified xsi:type="dcterms:W3CDTF">2026-06-23T14:20:41Z</dcterms:modified>
</cp:coreProperties>
</file>